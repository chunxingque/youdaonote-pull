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25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9" r:id="rId12"/>
    <p:sldId id="267" r:id="rId13"/>
    <p:sldId id="268" r:id="rId14"/>
    <p:sldId id="272" r:id="rId15"/>
    <p:sldId id="280" r:id="rId16"/>
    <p:sldId id="273" r:id="rId17"/>
    <p:sldId id="274" r:id="rId18"/>
    <p:sldId id="275" r:id="rId19"/>
    <p:sldId id="277" r:id="rId20"/>
    <p:sldId id="276" r:id="rId21"/>
    <p:sldId id="278" r:id="rId22"/>
    <p:sldId id="259" r:id="rId23"/>
    <p:sldId id="258" r:id="rId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F8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8CD17A-917F-4361-A5E3-F4A12EF615C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72773D-6460-4078-8BEE-F09F28E08533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参考过网上的翻译，但是不合我意，故出自己的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  <a:cs typeface="+mn-cs"/>
              </a:rPr>
              <a:t>；有些是联系上下文或引证推测出来的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道顺，训导处</a:t>
            </a:r>
          </a:p>
        </p:txBody>
      </p:sp>
    </p:spTree>
    <p:extLst>
      <p:ext uri="{BB962C8B-B14F-4D97-AF65-F5344CB8AC3E}">
        <p14:creationId xmlns:p14="http://schemas.microsoft.com/office/powerpoint/2010/main" val="771749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33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438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718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4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445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最关键的是得到好的老师，老师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——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他人，伊索寓言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有老师来指点；三人行，则必有师</a:t>
            </a:r>
          </a:p>
        </p:txBody>
      </p:sp>
    </p:spTree>
    <p:extLst>
      <p:ext uri="{BB962C8B-B14F-4D97-AF65-F5344CB8AC3E}">
        <p14:creationId xmlns:p14="http://schemas.microsoft.com/office/powerpoint/2010/main" val="3165975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我们学生的调节方式</a:t>
            </a:r>
          </a:p>
        </p:txBody>
      </p:sp>
    </p:spTree>
    <p:extLst>
      <p:ext uri="{BB962C8B-B14F-4D97-AF65-F5344CB8AC3E}">
        <p14:creationId xmlns:p14="http://schemas.microsoft.com/office/powerpoint/2010/main" val="330075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25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20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74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27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891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195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452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298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1095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EF277-9E01-47A2-AFD6-5193D285935F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66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A2ABCA-F20B-4D39-98A6-03187F37753A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06F025-2FA6-4DC0-B769-C0120919038E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03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40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324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5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4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5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58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213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175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69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409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044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87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52328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226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175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732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638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9537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523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64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78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4"/>
          <p:cNvSpPr txBox="1">
            <a:spLocks noChangeArrowheads="1"/>
          </p:cNvSpPr>
          <p:nvPr/>
        </p:nvSpPr>
        <p:spPr bwMode="auto">
          <a:xfrm>
            <a:off x="1835696" y="980728"/>
            <a:ext cx="5724644" cy="830997"/>
          </a:xfrm>
          <a:prstGeom prst="rect">
            <a:avLst/>
          </a:prstGeom>
          <a:noFill/>
          <a:ln>
            <a:noFill/>
          </a:ln>
          <a:effectLst>
            <a:outerShdw dist="12700" dir="162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荀子</a:t>
            </a:r>
            <a:r>
              <a:rPr lang="en-US" altLang="zh-CN" sz="4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zh-CN" sz="4800" dirty="0">
                <a:latin typeface="楷体" panose="02010609060101010101" pitchFamily="49" charset="-122"/>
                <a:ea typeface="楷体" panose="02010609060101010101" pitchFamily="49" charset="-122"/>
              </a:rPr>
              <a:t>治气养心之术</a:t>
            </a:r>
            <a:endParaRPr lang="zh-CN" altLang="en-US" sz="4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3131840" y="2636912"/>
            <a:ext cx="3877985" cy="584775"/>
          </a:xfrm>
          <a:prstGeom prst="rect">
            <a:avLst/>
          </a:prstGeom>
          <a:noFill/>
          <a:ln>
            <a:noFill/>
          </a:ln>
          <a:effectLst>
            <a:outerShdw dist="12700" dir="162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主讲人：崔巍  李照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1475656" y="1628800"/>
            <a:ext cx="6864380" cy="1200329"/>
          </a:xfrm>
          <a:prstGeom prst="rect">
            <a:avLst/>
          </a:prstGeom>
          <a:noFill/>
          <a:ln>
            <a:noFill/>
          </a:ln>
          <a:effectLst>
            <a:outerShdw dist="12700" dir="108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治（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）气（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）养心（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）之术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3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血气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）刚强，则柔之以调和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zh-CN" altLang="en-US" sz="36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3140968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）治：管理或整理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）气：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指人的元气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[qi]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气者，体之充也。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孟子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精神状态、情绪。恢弘志气。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诸葛亮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出师表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治气： 涵养精气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）心：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可以理解为人的洞察力、敏锐程度、学习能力；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任物者谓之心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意思是 心是担东西的载体，杯子 水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）血气：一时冲动所生的气，可以理解为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“火气”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：治气养心的方法是：若其火气旺盛的，那么就用心平气和（的方式）来柔化他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1556792"/>
            <a:ext cx="8496944" cy="502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知虑：智慧和谋略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战国策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赵策二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里有印证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故寡人以子之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，为辨足以道人，危足以持难，忠可以写意，信可以远期。”渐深：“渐”通“潜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qián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潜深：幽深隐蔽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。知虑渐深，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直译为“智慧和谋略幽深隐蔽”，根据后半句里的“易良（平易良善）”，及本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前后文每句开头的第一句（都描述的是不好的状况）推测，“知虑渐深”应理解成“心机太重、城府太深”的意思。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）一：纯净，此处用作动词，使纯净。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增韵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：纯也。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水地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：故水一则人心正，水清则民心易。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）易良：平易良善。 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孔颖达 疏：“简易良善，使人从化，是易良。”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）勇胆猛戾：胆大妄为。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）道顺：教导和训诫。王先谦集解引俞樾曰：“道顺即导训也。”。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其心机太重，城府太深，那么就要让他感受到平易良善、简单质朴的好处，从而净化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他；若其胆大妄为，那么就教导与训诫他。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9712" y="404664"/>
            <a:ext cx="860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知虑渐深（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），则一（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）之以易良（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7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28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勇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胆猛戾（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），则辅之以道顺（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016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1052736"/>
            <a:ext cx="84969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）齐给便利：杨倞 注：“齐给便利，皆捷速也。”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荀子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非十二子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：“聪明圣知不以穷人，齐给速通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不争先人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，刚毅勇敢不以伤人。”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韩诗外传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卷二：“齐给便捷，则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安之以静退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。”根据后面这两种印证里的用法及其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后文“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劳苦之事则争先，饶乐之事则能让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”推测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应该解释为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（逐利享乐之事）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下手快，常常抢占先机，不懂得谦让之德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”的意思。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节制，管束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逸周书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谥法解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：好廉自克曰节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另见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说文解字注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竹 ，約也。約、纏束也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）动止：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运动 与 静止。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庄子．天地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：「有形者，与无形无状而皆存者，尽无。其动止也，其死生也，其废起也，此又非其所以也。」（这里不是指发出声音的动静，而是运动与静止两种状态的互相切换），进一步引申为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进取和退让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的意思，这种翻译也与文中的“容貌、态度、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、趋行，由礼则雅”、“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劳苦之事则争先，饶乐之事则能让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”相对应。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译：若其对逐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享乐之事下手快，常常抢占先机，不懂得谦让之德，那么就要让其懂得何时宜进取、何时宜退让。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9712" y="404664"/>
            <a:ext cx="86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齐给便利（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），则节（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11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）之以动止（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12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）；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24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916832"/>
            <a:ext cx="84969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）褊小：褊，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biǎn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，气量狭窄。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）廓：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kuò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，开拓，扩大。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）广大：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气度、胸襟的宽宏与开阔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。孔颖达 疏：“广大，谓志意宏大。”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）卑湿（卑溼）：谓意志低下消沉。杨倞 注：“卑谓谦下，溼亦谓自卑下如地之下溼然也。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‘溼，忧也。自关而西，凡志而不得，欲而不获，高而有坠，行而中止，皆谓之溼。’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）重迟：迟钝；迟缓；很不敏捷。杨倞 注：“重迟，宽缓也。”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越绝书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计倪内经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：“不先蓄积，士卒数饥，饥则易伤，重迟不可战。”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）贪利：贪求利益。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史记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范雎蔡泽列传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：“苏秦、智伯 之智，非不足以辟辱远死也，而所以死者，惑於贪利不止也。”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闻进士贩茶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诗：“浮浪书生亦贪利，史笥经箱为盗囊。”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）抗：举。通“亢”，提高，激发。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）高志：崇高远大的志向。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题张伯常汉上茅堂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诗：“主人事幽屏，不愿尚书郎；即此徇高志，风骚恣徜徉。”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杂诗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：「高志局四海，块然守空堂。」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译：若其心胸狭隘，那么就扩大其胸襟；若其自卑消沉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、行动缓慢或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贪图利益，那么就用崇高远大的志向来激发提高他。</a:t>
            </a: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2988" y="908720"/>
            <a:ext cx="8676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狭隘褊小（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），则廓（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14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）之以广大（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）；</a:t>
            </a:r>
            <a:endParaRPr lang="en-US" altLang="zh-CN" sz="2400" b="1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卑湿（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）重迟（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16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）贪利（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17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），则抗（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18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）之以高志（</a:t>
            </a:r>
            <a:r>
              <a:rPr lang="en-US" altLang="zh-CN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）；</a:t>
            </a:r>
            <a:endParaRPr lang="zh-CN" altLang="en-US" sz="2400" dirty="0" smtClean="0"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761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2636912"/>
            <a:ext cx="84969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）庸众：庸，凡庸；众，众人。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）驽散：驽马散材。比喻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材质平凡庸拙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。杨倞 注：“駑，谓材下如駑马者也；散，不拘检者也。”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）劫：夺去。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指用师友去其旧性，引申为改造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译：若其资质平庸，那当用老师或朋友来提升他。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1600" y="1844824"/>
            <a:ext cx="86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庸众（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）驽散（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21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），则劫（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22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）之以师友；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760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552" y="2780928"/>
            <a:ext cx="84969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）怠慢：怠惰放荡。语出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春官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：“廵舞列而挞其怠慢者。”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荀子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劝学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怠慢忘身，灾祸乃作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）僄弃：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piào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，自暴自弃。杨倞 注：“僄，轻也。谓自轻其身也。”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）照：知晓，如心照不宣、肝胆相照。此处用作动词，使知晓。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译：若其怠惰放荡、自暴自弃，那么就让他明白这样做的危险性。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1600" y="1916832"/>
            <a:ext cx="86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怠慢（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）僄弃（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24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），则照（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25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）之以祸灾；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444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1700808"/>
            <a:ext cx="849694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）愚款端悫：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愚款，单纯朴实。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王肃注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愚，敦厚。”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端悫，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duān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què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，正直良善。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說文解字注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 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直也；悫，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说文解字注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原（慤）字，謹也、善也、愿也、誠也。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联系后文的应对之方“合之以礼乐，通之以思索”，我们认为“愚款端悫”描述的是：太过于淳朴笃厚，不懂主流世界人情世故、如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道德经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所描述的“其民淳淳”那类人，并且这类人行事欠思考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，直来直往。</a:t>
            </a:r>
            <a:endPara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）合：不违背，一事物与另一事物相应或相符：合格、合法、情投意合。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）通：通晓。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）思索：思考探求。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荀子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劝学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：“故诵数以贯之，思索以通之。”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译：若其过分单纯朴实，行事欠思考、直来直去，那么就用礼乐教化他，同时也要让他学会思考。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696" y="754323"/>
            <a:ext cx="860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愚款端悫（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26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），</a:t>
            </a:r>
            <a:endParaRPr lang="en-US" altLang="zh-CN" sz="28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则合（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）之以礼乐，通（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28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）之以思索（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29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076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2276872"/>
            <a:ext cx="84969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）径：直，直捷了当：径直。径流。径情（任性）。径自。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）由：践行。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礼记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：「是故隆礼由礼谓之有方之士，不隆礼不由礼谓之无方之民。」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）要：关键。如：重要、要人、要领、纲要、要言不烦。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）师：前文“故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非我而当者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，吾师也”。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）神：神奇，玄妙。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）一：专一。用心一也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荀子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劝学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）好：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hǎo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说文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：“好，美也。”引申为美、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善的事物。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译：对于治气养心的方法，最直截了当的就是践行礼节规范，最关键的是有能指导自己的人，最能发生神妙作用的是专心于美善的事物上。这就是治气养心的方法了。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764704"/>
            <a:ext cx="8604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凡治气养心之术，莫径（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）由（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31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）礼，莫要（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）得师（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33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），莫神（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34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）一（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35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）好（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36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）。夫是之谓治气养心之术也。</a:t>
            </a:r>
            <a:endParaRPr lang="zh-CN" altLang="en-US" sz="2800" dirty="0" smtClean="0"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891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3528" y="1484784"/>
            <a:ext cx="860444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治气养心之术：血气刚强，则柔之以调和；知虑渐深，则一之以易良；勇胆猛戾，则辅之以道顺；齐给便利，则节之以动止；狭隘褊小，则廓之以广大；卑湿重迟贪利，则抗之以高志；庸众驽散，则劫之以师友；怠慢僄弃，则照之以祸灾；愚款端悫，则合之以礼乐，通之以思索。凡治气养心之术，莫径由礼，莫要得师，莫神一好。夫是之谓治气养心之术也。</a:t>
            </a:r>
            <a:endParaRPr lang="zh-CN" altLang="en-US" sz="28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50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31640" y="2348880"/>
            <a:ext cx="6840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为什么愚款端悫要合之以礼乐？</a:t>
            </a:r>
            <a:endParaRPr lang="en-US" altLang="zh-CN" sz="36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内容要包含“礼”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在荀子的文本中或那个时期的含义，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最好举例说明其具体要求或作用。</a:t>
            </a:r>
            <a:endParaRPr lang="zh-CN" altLang="en-US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40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83768" y="3140968"/>
            <a:ext cx="417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“礼”是什么？</a:t>
            </a:r>
          </a:p>
        </p:txBody>
      </p:sp>
    </p:spTree>
    <p:extLst>
      <p:ext uri="{BB962C8B-B14F-4D97-AF65-F5344CB8AC3E}">
        <p14:creationId xmlns:p14="http://schemas.microsoft.com/office/powerpoint/2010/main" val="213576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3568" y="1190357"/>
            <a:ext cx="79928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说文</a:t>
            </a: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示部</a:t>
            </a: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：礼，履也。所以</a:t>
            </a:r>
            <a:r>
              <a:rPr lang="zh-CN" altLang="en-US" sz="2800" kern="1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事神致福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也，从示从豐</a:t>
            </a:r>
            <a:r>
              <a:rPr lang="zh-CN" altLang="en-US" sz="2800" kern="1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en-US" sz="2800" kern="1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礼记</a:t>
            </a: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礼运</a:t>
            </a:r>
            <a:r>
              <a:rPr lang="en-US" altLang="zh-CN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800" kern="1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夫礼之初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，始诸饮食，其燔黍、捭豚，汙尊而抔饮，蒉桴而土鼓，</a:t>
            </a:r>
            <a:r>
              <a:rPr lang="zh-CN" altLang="en-US" sz="2800" kern="1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犹若可以致其敬于鬼神</a:t>
            </a:r>
            <a:r>
              <a:rPr lang="zh-CN" altLang="en-US" sz="2800" kern="1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en-US" sz="2800" kern="1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起初，礼</a:t>
            </a:r>
            <a:r>
              <a:rPr lang="zh-CN" altLang="en-US" sz="2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是敬祀神灵以获得神灵福佑的祭神活动。</a:t>
            </a:r>
          </a:p>
        </p:txBody>
      </p:sp>
    </p:spTree>
    <p:extLst>
      <p:ext uri="{BB962C8B-B14F-4D97-AF65-F5344CB8AC3E}">
        <p14:creationId xmlns:p14="http://schemas.microsoft.com/office/powerpoint/2010/main" val="185484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584" y="1750804"/>
            <a:ext cx="741682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郭沫若：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礼是后来的字。在金文里面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我们偶尔看见用丰字的。从字的结构上来说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是在一个器皿里面盛网甲玉具以奉事于柙。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盘庚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里面所说的‘具乃贝玉’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就是这个意思。大概礼之起于祀神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故其字后来从示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其后扩展为对人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更其后扩展而为吉、凶、军、宾、嘉各种仪制。</a:t>
            </a:r>
            <a:endParaRPr lang="zh-CN" alt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15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584" y="1196752"/>
            <a:ext cx="7416824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梁启超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志三代宗教礼学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礼也者，人类一切行为之规范也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有人所以成人之礼，若冠礼是；有人与人相接之礼，若士相见礼是；有人对于宗族家族之礼，若昏礼丧礼是；有宗族与宗族间相接之礼，若乡射饮酒诸礼是；有国与国相接之礼，若朝聘燕享诸礼是；有人与神与天相接之礼，则祭礼是。故曰：“礼所以承天道以冶人情也。”</a:t>
            </a:r>
            <a:endParaRPr lang="zh-CN" alt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2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2276872"/>
            <a:ext cx="741682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王国维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观堂集林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释礼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盛玉以奉神人之器谓之若丰，推之而奉神人酒醴亦谓之礼。又推之而</a:t>
            </a:r>
            <a:r>
              <a:rPr lang="zh-CN" altLang="en-US" sz="2800" kern="100" dirty="0" smtClean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奉神人之事通谓之礼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7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584" y="1608470"/>
            <a:ext cx="741682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礼记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曲礼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道德仁义，非礼不成，教训正俗，非礼不备。分争辨讼，非礼不决。君臣上下父子兄弟，非礼不定。宦学事师，非礼不亲。班朝治军，莅官行法，非礼威严不行。祷祠祭祀，供给鬼神，非礼不诚不庄。是以君子恭敬撙节退让以明礼。</a:t>
            </a:r>
            <a:endParaRPr lang="zh-CN" alt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15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584" y="1608470"/>
            <a:ext cx="741682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荀子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礼论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天地者，生之本也；先祖者，类之本也；君师者，治之本也。无天地恶生？无先祖恶出？无君师恶治？三者偏亡，则无安人。</a:t>
            </a:r>
            <a:r>
              <a:rPr lang="zh-CN" altLang="en-US" sz="2800" kern="100" dirty="0" smtClean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故礼，上事天，下事地，尊先祖而隆君师，是礼之三本也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9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584" y="1608470"/>
            <a:ext cx="74168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齐景公问政于孔子。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孔子对曰：“</a:t>
            </a:r>
            <a:r>
              <a:rPr lang="zh-CN" altLang="en-US" sz="2800" kern="100" dirty="0" smtClean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君君，臣臣，父父，子子</a:t>
            </a:r>
            <a:r>
              <a:rPr lang="zh-CN" altLang="en-US" sz="2800" dirty="0">
                <a:solidFill>
                  <a:srgbClr val="FF0000"/>
                </a:solidFill>
              </a:rPr>
              <a:t>。</a:t>
            </a:r>
            <a:r>
              <a:rPr lang="zh-CN" altLang="en-US" sz="2800" dirty="0" smtClean="0"/>
              <a:t>”</a:t>
            </a:r>
            <a:endParaRPr lang="en-US" altLang="zh-CN" sz="2800" dirty="0" smtClean="0"/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公曰：“善哉！</a:t>
            </a:r>
            <a:r>
              <a:rPr lang="zh-CN" altLang="en-US" sz="2800" kern="100" dirty="0" smtClean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信如君不君，臣不臣，父不父，子不子，虽有粟，吾得而食诸？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7584" y="4581128"/>
            <a:ext cx="79208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荀子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修身</a:t>
            </a:r>
            <a:r>
              <a:rPr lang="en-US" altLang="zh-CN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人无礼则不生，事无礼则不成，国家无礼则不宁。</a:t>
            </a:r>
          </a:p>
        </p:txBody>
      </p:sp>
    </p:spTree>
    <p:extLst>
      <p:ext uri="{BB962C8B-B14F-4D97-AF65-F5344CB8AC3E}">
        <p14:creationId xmlns:p14="http://schemas.microsoft.com/office/powerpoint/2010/main" val="128304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31640" y="2132856"/>
            <a:ext cx="73448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礼的两个作用：</a:t>
            </a:r>
            <a:endParaRPr lang="en-US" altLang="zh-CN" sz="2800" kern="100" dirty="0" smtClean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治国安民的方式。</a:t>
            </a:r>
          </a:p>
          <a:p>
            <a:pPr marL="51435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kern="100" dirty="0" smtClean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维系调谐人际关系，如冠、昏、丧、祭、乡、射、朝、聘等礼。</a:t>
            </a:r>
          </a:p>
        </p:txBody>
      </p:sp>
    </p:spTree>
    <p:extLst>
      <p:ext uri="{BB962C8B-B14F-4D97-AF65-F5344CB8AC3E}">
        <p14:creationId xmlns:p14="http://schemas.microsoft.com/office/powerpoint/2010/main" val="366659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1619250" y="6442075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dist="127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400">
              <a:solidFill>
                <a:srgbClr val="3399FF"/>
              </a:solidFill>
            </a:endParaRPr>
          </a:p>
        </p:txBody>
      </p:sp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4716463" y="2349500"/>
            <a:ext cx="2430462" cy="923925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5400">
                <a:latin typeface="华文隶书" panose="02010800040101010101" pitchFamily="2" charset="-122"/>
                <a:ea typeface="华文隶书" panose="02010800040101010101" pitchFamily="2" charset="-122"/>
              </a:rPr>
              <a:t>谢 谢！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ChangeArrowheads="1"/>
          </p:cNvSpPr>
          <p:nvPr/>
        </p:nvSpPr>
        <p:spPr bwMode="auto">
          <a:xfrm>
            <a:off x="525463" y="2276475"/>
            <a:ext cx="30305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华文隶书" panose="02010800040101010101" pitchFamily="2" charset="-122"/>
                <a:ea typeface="华文隶书" panose="02010800040101010101" pitchFamily="2" charset="-122"/>
              </a:rPr>
              <a:t>您可以创作演绎作品 </a:t>
            </a:r>
          </a:p>
        </p:txBody>
      </p:sp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525463" y="2636838"/>
            <a:ext cx="76469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华文隶书" panose="02010800040101010101" pitchFamily="2" charset="-122"/>
                <a:ea typeface="华文隶书" panose="02010800040101010101" pitchFamily="2" charset="-122"/>
              </a:rPr>
              <a:t>您必须按照作者或者许可人指定的方式对作品进行署名 </a:t>
            </a:r>
          </a:p>
        </p:txBody>
      </p:sp>
      <p:sp>
        <p:nvSpPr>
          <p:cNvPr id="3076" name="Rectangle 7"/>
          <p:cNvSpPr>
            <a:spLocks noChangeArrowheads="1"/>
          </p:cNvSpPr>
          <p:nvPr/>
        </p:nvSpPr>
        <p:spPr bwMode="auto">
          <a:xfrm>
            <a:off x="525463" y="2997200"/>
            <a:ext cx="42608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您不得将本作品用于商业目的 </a:t>
            </a:r>
          </a:p>
        </p:txBody>
      </p:sp>
      <p:sp>
        <p:nvSpPr>
          <p:cNvPr id="3077" name="Text Box 9"/>
          <p:cNvSpPr txBox="1">
            <a:spLocks noChangeArrowheads="1"/>
          </p:cNvSpPr>
          <p:nvPr/>
        </p:nvSpPr>
        <p:spPr bwMode="auto">
          <a:xfrm>
            <a:off x="2051050" y="549275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dist="12700" dir="108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华文隶书" panose="02010800040101010101" pitchFamily="2" charset="-122"/>
                <a:ea typeface="华文隶书" panose="02010800040101010101" pitchFamily="2" charset="-122"/>
              </a:rPr>
              <a:t>添加标题</a:t>
            </a:r>
          </a:p>
        </p:txBody>
      </p:sp>
      <p:sp>
        <p:nvSpPr>
          <p:cNvPr id="3078" name="Text Box 10"/>
          <p:cNvSpPr txBox="1">
            <a:spLocks noChangeArrowheads="1"/>
          </p:cNvSpPr>
          <p:nvPr/>
        </p:nvSpPr>
        <p:spPr bwMode="auto">
          <a:xfrm>
            <a:off x="7019925" y="6453188"/>
            <a:ext cx="1449388" cy="369887"/>
          </a:xfrm>
          <a:prstGeom prst="rect">
            <a:avLst/>
          </a:prstGeom>
          <a:noFill/>
          <a:ln>
            <a:noFill/>
          </a:ln>
          <a:effectLst>
            <a:outerShdw dist="127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E2FF8F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www.1ppt.com</a:t>
            </a:r>
          </a:p>
        </p:txBody>
      </p:sp>
      <p:pic>
        <p:nvPicPr>
          <p:cNvPr id="7" name="Picture 26" descr="粉红荷花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817" y="4725144"/>
            <a:ext cx="7112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DESIGN.BLOGBUS.COM">
  <a:themeElements>
    <a:clrScheme name="PPTDESIGN.BLOGBUS.COM 13">
      <a:dk1>
        <a:srgbClr val="000000"/>
      </a:dk1>
      <a:lt1>
        <a:srgbClr val="FFFFFF"/>
      </a:lt1>
      <a:dk2>
        <a:srgbClr val="000000"/>
      </a:dk2>
      <a:lt2>
        <a:srgbClr val="99CC00"/>
      </a:lt2>
      <a:accent1>
        <a:srgbClr val="D0E59F"/>
      </a:accent1>
      <a:accent2>
        <a:srgbClr val="E7700F"/>
      </a:accent2>
      <a:accent3>
        <a:srgbClr val="FFFFFF"/>
      </a:accent3>
      <a:accent4>
        <a:srgbClr val="000000"/>
      </a:accent4>
      <a:accent5>
        <a:srgbClr val="E4F0CD"/>
      </a:accent5>
      <a:accent6>
        <a:srgbClr val="D1650C"/>
      </a:accent6>
      <a:hlink>
        <a:srgbClr val="4E83A1"/>
      </a:hlink>
      <a:folHlink>
        <a:srgbClr val="238356"/>
      </a:folHlink>
    </a:clrScheme>
    <a:fontScheme name="PPTDESIGN.BLOGBUS.CO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DESIGN.BLOGBUS.CO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.BLOGBUS.CO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.BLOGBUS.CO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.BLOGBUS.CO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.BLOGBUS.CO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.BLOGBUS.CO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.BLOGBUS.COM 13">
        <a:dk1>
          <a:srgbClr val="000000"/>
        </a:dk1>
        <a:lt1>
          <a:srgbClr val="FFFFFF"/>
        </a:lt1>
        <a:dk2>
          <a:srgbClr val="000000"/>
        </a:dk2>
        <a:lt2>
          <a:srgbClr val="99CC00"/>
        </a:lt2>
        <a:accent1>
          <a:srgbClr val="D0E59F"/>
        </a:accent1>
        <a:accent2>
          <a:srgbClr val="E7700F"/>
        </a:accent2>
        <a:accent3>
          <a:srgbClr val="FFFFFF"/>
        </a:accent3>
        <a:accent4>
          <a:srgbClr val="000000"/>
        </a:accent4>
        <a:accent5>
          <a:srgbClr val="E4F0CD"/>
        </a:accent5>
        <a:accent6>
          <a:srgbClr val="D1650C"/>
        </a:accent6>
        <a:hlink>
          <a:srgbClr val="4E83A1"/>
        </a:hlink>
        <a:folHlink>
          <a:srgbClr val="23835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ptdesign">
  <a:themeElements>
    <a:clrScheme name="ppt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design 13">
        <a:dk1>
          <a:srgbClr val="000000"/>
        </a:dk1>
        <a:lt1>
          <a:srgbClr val="FFFFFF"/>
        </a:lt1>
        <a:dk2>
          <a:srgbClr val="000000"/>
        </a:dk2>
        <a:lt2>
          <a:srgbClr val="99CC00"/>
        </a:lt2>
        <a:accent1>
          <a:srgbClr val="D0E59F"/>
        </a:accent1>
        <a:accent2>
          <a:srgbClr val="E7700F"/>
        </a:accent2>
        <a:accent3>
          <a:srgbClr val="FFFFFF"/>
        </a:accent3>
        <a:accent4>
          <a:srgbClr val="000000"/>
        </a:accent4>
        <a:accent5>
          <a:srgbClr val="E4F0CD"/>
        </a:accent5>
        <a:accent6>
          <a:srgbClr val="D1650C"/>
        </a:accent6>
        <a:hlink>
          <a:srgbClr val="4E83A1"/>
        </a:hlink>
        <a:folHlink>
          <a:srgbClr val="23835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</TotalTime>
  <Words>2930</Words>
  <Application>Microsoft Office PowerPoint</Application>
  <PresentationFormat>全屏显示(4:3)</PresentationFormat>
  <Paragraphs>124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华文楷体</vt:lpstr>
      <vt:lpstr>华文隶书</vt:lpstr>
      <vt:lpstr>楷体</vt:lpstr>
      <vt:lpstr>宋体</vt:lpstr>
      <vt:lpstr>微软雅黑</vt:lpstr>
      <vt:lpstr>Arial</vt:lpstr>
      <vt:lpstr>Times New Roman</vt:lpstr>
      <vt:lpstr>PPTDESIGN.BLOGBUS.COM</vt:lpstr>
      <vt:lpstr>pptdesign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李照</dc:creator>
  <cp:lastModifiedBy>i</cp:lastModifiedBy>
  <cp:revision>60</cp:revision>
  <dcterms:created xsi:type="dcterms:W3CDTF">2008-04-23T14:43:35Z</dcterms:created>
  <dcterms:modified xsi:type="dcterms:W3CDTF">2020-08-17T06:43:40Z</dcterms:modified>
</cp:coreProperties>
</file>